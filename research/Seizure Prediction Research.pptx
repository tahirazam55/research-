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6858000" cx="12192000"/>
  <p:notesSz cx="6858000" cy="9144000"/>
  <p:embeddedFontLst>
    <p:embeddedFont>
      <p:font typeface="Poppins"/>
      <p:regular r:id="rId38"/>
      <p:bold r:id="rId39"/>
      <p:italic r:id="rId40"/>
      <p:boldItalic r:id="rId41"/>
    </p:embeddedFont>
    <p:embeddedFont>
      <p:font typeface="La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300554-3943-4F22-8DCF-B5FFF311CECB}">
  <a:tblStyle styleId="{AD300554-3943-4F22-8DCF-B5FFF311CEC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italic.fntdata"/><Relationship Id="rId20" Type="http://schemas.openxmlformats.org/officeDocument/2006/relationships/slide" Target="slides/slide14.xml"/><Relationship Id="rId42" Type="http://schemas.openxmlformats.org/officeDocument/2006/relationships/font" Target="fonts/Lato-regular.fntdata"/><Relationship Id="rId41" Type="http://schemas.openxmlformats.org/officeDocument/2006/relationships/font" Target="fonts/Poppins-boldItalic.fntdata"/><Relationship Id="rId22" Type="http://schemas.openxmlformats.org/officeDocument/2006/relationships/slide" Target="slides/slide16.xml"/><Relationship Id="rId44" Type="http://schemas.openxmlformats.org/officeDocument/2006/relationships/font" Target="fonts/Lato-italic.fntdata"/><Relationship Id="rId21" Type="http://schemas.openxmlformats.org/officeDocument/2006/relationships/slide" Target="slides/slide15.xml"/><Relationship Id="rId43" Type="http://schemas.openxmlformats.org/officeDocument/2006/relationships/font" Target="fonts/Lato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Poppins-bold.fntdata"/><Relationship Id="rId16" Type="http://schemas.openxmlformats.org/officeDocument/2006/relationships/slide" Target="slides/slide10.xml"/><Relationship Id="rId38" Type="http://schemas.openxmlformats.org/officeDocument/2006/relationships/font" Target="fonts/Poppins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46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Relationship Id="rId8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Relationship Id="rId5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33.png"/><Relationship Id="rId5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Relationship Id="rId4" Type="http://schemas.openxmlformats.org/officeDocument/2006/relationships/image" Target="../media/image37.png"/><Relationship Id="rId9" Type="http://schemas.openxmlformats.org/officeDocument/2006/relationships/image" Target="../media/image22.png"/><Relationship Id="rId5" Type="http://schemas.openxmlformats.org/officeDocument/2006/relationships/image" Target="../media/image31.png"/><Relationship Id="rId6" Type="http://schemas.openxmlformats.org/officeDocument/2006/relationships/image" Target="../media/image29.png"/><Relationship Id="rId7" Type="http://schemas.openxmlformats.org/officeDocument/2006/relationships/image" Target="../media/image36.png"/><Relationship Id="rId8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Relationship Id="rId4" Type="http://schemas.openxmlformats.org/officeDocument/2006/relationships/image" Target="../media/image4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Relationship Id="rId4" Type="http://schemas.openxmlformats.org/officeDocument/2006/relationships/image" Target="../media/image4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Relationship Id="rId4" Type="http://schemas.openxmlformats.org/officeDocument/2006/relationships/image" Target="../media/image39.png"/><Relationship Id="rId9" Type="http://schemas.openxmlformats.org/officeDocument/2006/relationships/image" Target="../media/image48.png"/><Relationship Id="rId5" Type="http://schemas.openxmlformats.org/officeDocument/2006/relationships/image" Target="../media/image43.png"/><Relationship Id="rId6" Type="http://schemas.openxmlformats.org/officeDocument/2006/relationships/image" Target="../media/image41.png"/><Relationship Id="rId7" Type="http://schemas.openxmlformats.org/officeDocument/2006/relationships/image" Target="../media/image45.png"/><Relationship Id="rId8" Type="http://schemas.openxmlformats.org/officeDocument/2006/relationships/image" Target="../media/image4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95500" y="1936998"/>
            <a:ext cx="800100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Seizure Prediction: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 Model Generalisation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468439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Impact of Preprocessing, Complexity, and Regularisation on Seizure Prediction Generalisation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4535239"/>
            <a:ext cx="7620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Tahir Azam • Department of Data Science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38337"/>
            <a:ext cx="53244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1947862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286500" y="1938337"/>
            <a:ext cx="559069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Predictive Importance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286500" y="2452687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Epileptic seizure prediction is critical for improving patient safety and quality of life. However, EEG data poses unique challenges: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286500" y="4676775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Models must balance accuracy with medically relevant metrics like F1-score and PR-AUC.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15125" y="3148012"/>
            <a:ext cx="48958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High Noise and Non-stationarity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15125" y="3657600"/>
            <a:ext cx="48958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High Dimensionality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15125" y="4167187"/>
            <a:ext cx="48958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Extreme Class Imbalance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1813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6909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20052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THE CLINICAL BURDEN OF EPILEPSY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/>
          <p:nvPr/>
        </p:nvSpPr>
        <p:spPr>
          <a:xfrm>
            <a:off x="5524500" y="2538412"/>
            <a:ext cx="1143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2095500" y="2862262"/>
            <a:ext cx="8001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2286000" y="3386137"/>
            <a:ext cx="7620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Seizure events are rare (minority class), making traditional accuracy misleading. We investigate how preprocessing and regularisation stabilize these models.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88406"/>
            <a:ext cx="3486150" cy="2709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488406"/>
            <a:ext cx="3486150" cy="2709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488406"/>
            <a:ext cx="3486150" cy="270986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793908" y="3431381"/>
            <a:ext cx="306038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Noise Sensitivity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6775" y="3945731"/>
            <a:ext cx="29146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EEG is susceptible to muscle activity, eye movements, and environmental artifacts.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565808" y="3431381"/>
            <a:ext cx="306038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Class Imbalance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38675" y="3945731"/>
            <a:ext cx="29146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Normal activity dominates recording time, often outnumbering seizures 500:1.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337708" y="3431381"/>
            <a:ext cx="306038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Non-Stationarity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410575" y="3945731"/>
            <a:ext cx="29146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Patterns vary significantly between subjects and even within the same patient over time.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29300" y="2821781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53587" y="2821781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KEY EEG DATA CHALLENGES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1762125" y="2900362"/>
            <a:ext cx="9096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Preprocessing Impact: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Evaluate how normalization and feature selection order affects results.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1762125" y="3409950"/>
            <a:ext cx="9096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Regularisation Study: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Compare L1, L2, and Elastic Net for model sparsity and generalisation.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762125" y="3919537"/>
            <a:ext cx="9096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Imbalance Strategies: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Investigate SMOTE-style oversampling effects on minority class learning.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762125" y="4429125"/>
            <a:ext cx="9096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Baseline Comparison: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Establish performance using Logistic Regression as a controlled classifier.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9337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4432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9528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446246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CORE RESEARCH OBJECTIVES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/>
          <p:nvPr/>
        </p:nvSpPr>
        <p:spPr>
          <a:xfrm>
            <a:off x="5524500" y="2709862"/>
            <a:ext cx="1143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2095500" y="3033712"/>
            <a:ext cx="8001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Methodological Foundation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2286000" y="3557587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Using Logistic Regression to isolate the effects of data preparation from model architecture complexity.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159894"/>
            <a:ext cx="2606129" cy="809773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581025" y="2526357"/>
            <a:ext cx="559069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Logistic Regression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581025" y="3040707"/>
            <a:ext cx="53244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Deliberately chosen as a simple baseline. This ensures that performance variations are linked to data handling rather than model "black-box" complexity.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286500" y="2526357"/>
            <a:ext cx="559069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Evaluation Metrics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286500" y="3040707"/>
            <a:ext cx="53244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Standard accuracy fails in imbalanced EEG. We focus on:</a:t>
            </a:r>
            <a:endParaRPr/>
          </a:p>
        </p:txBody>
      </p:sp>
      <p:pic>
        <p:nvPicPr>
          <p:cNvPr descr="image.png" id="165" name="Google Shape;16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4398019"/>
            <a:ext cx="2091779" cy="33352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6562725" y="346218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667500" y="3464569"/>
            <a:ext cx="49434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F1-Score: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Harmonic mean of precision and recall.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562725" y="3733651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667500" y="3736032"/>
            <a:ext cx="49434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PR-AUC: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Area under the Precision-Recall curve.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562725" y="4005113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667500" y="4007494"/>
            <a:ext cx="49434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Sparsity: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Number of zeroed-out coefficients.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THE FOUNDATION MODEL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5708" y="2949922"/>
            <a:ext cx="4180582" cy="84370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2286000" y="4269878"/>
            <a:ext cx="7620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penalty term adjusts based on the regularisation type (L1, L2, or Elastic Net) to control model complexity and feature importance.</a:t>
            </a:r>
            <a:endParaRPr/>
          </a:p>
        </p:txBody>
      </p:sp>
      <p:pic>
        <p:nvPicPr>
          <p:cNvPr descr="image.png" id="181" name="Google Shape;18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2883" y="3207097"/>
            <a:ext cx="3666232" cy="32935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REGULARISED OBJECTIVE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81287"/>
            <a:ext cx="348615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681287"/>
            <a:ext cx="348615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681287"/>
            <a:ext cx="3486150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793908" y="2967037"/>
            <a:ext cx="306038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L1 (Lasso)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866775" y="3481387"/>
            <a:ext cx="291465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Absolute value penalty. Promotes </a:t>
            </a: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sparsity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by forcing irrelevant coefficients to zero. Best for noise reduction.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4565808" y="2967037"/>
            <a:ext cx="306038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L2 (Ridge)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4638675" y="3481387"/>
            <a:ext cx="291465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Squared magnitude penalty. Keeps all features active but shrinks their influence. Best for handling multicollinearity.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8337708" y="2967037"/>
            <a:ext cx="306038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Elastic Net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8410575" y="3481387"/>
            <a:ext cx="291465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hybrid approach combining L1 and L2 penalties. Balances feature selection with stable coefficient estimation.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COMPARING PENALTY TYPES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/>
          <p:nvPr/>
        </p:nvSpPr>
        <p:spPr>
          <a:xfrm>
            <a:off x="5524500" y="2709862"/>
            <a:ext cx="1143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2095500" y="3033712"/>
            <a:ext cx="8001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Preprocessing Pipelines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2286000" y="3557587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Comparing two strategic approaches to handle raw EEG signals and structured feature sets.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3233737" y="5745956"/>
            <a:ext cx="57245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"Maintains the physical meaning of EEG channels while reducing noise."</a:t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581025" y="3459956"/>
            <a:ext cx="11029950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520362" y="3864768"/>
            <a:ext cx="254781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Normalization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581025" y="4264818"/>
            <a:ext cx="242649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Standardizing scales across channels.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3388131" y="2474118"/>
            <a:ext cx="254781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Noise Removal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3448794" y="2874168"/>
            <a:ext cx="242649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Isolation Forest or filtering outliers.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6255900" y="3864768"/>
            <a:ext cx="254781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Feature Selection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6316563" y="4264818"/>
            <a:ext cx="242649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Variance thresholding on original features.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9123670" y="2474118"/>
            <a:ext cx="254781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Logistic Reg.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9184332" y="2874168"/>
            <a:ext cx="242649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Final classification on selected features.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PIPELINE A: INTERPRETABILITY</a:t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1718071" y="3621881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4585841" y="3621881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7453610" y="3621881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10321379" y="3621881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581025" y="742950"/>
            <a:ext cx="5190648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PIPELINE B: DIMENSIONALITY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581025" y="2114550"/>
            <a:ext cx="519064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Compression Strategy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581025" y="2628900"/>
            <a:ext cx="49434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Aims to compress feature space and reduce redundancy using PCA.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581025" y="5476875"/>
            <a:ext cx="49434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Note: PCA may lose class-discriminative info while preserving total variance.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1009650" y="3438525"/>
            <a:ext cx="45148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Feature Extraction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1009650" y="3948112"/>
            <a:ext cx="45148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Scaling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1009650" y="4457700"/>
            <a:ext cx="45148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PCA Transformation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1009650" y="4967287"/>
            <a:ext cx="45148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Model Training</a:t>
            </a:r>
            <a:endParaRPr/>
          </a:p>
        </p:txBody>
      </p:sp>
      <p:pic>
        <p:nvPicPr>
          <p:cNvPr descr="image.png" id="242" name="Google Shape;24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718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81450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49103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0006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78918"/>
            <a:ext cx="5324475" cy="2128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78918"/>
            <a:ext cx="5324475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923925" y="3121818"/>
            <a:ext cx="487060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Pipeline A (Selection)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923925" y="3636168"/>
            <a:ext cx="46386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Best for </a:t>
            </a: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structured feature sets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like BEED. Directly removes noisy dimensions while keeping interpretable markers.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6629400" y="3121818"/>
            <a:ext cx="487060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Pipeline B (PCA)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6629400" y="3636168"/>
            <a:ext cx="46386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Best for </a:t>
            </a: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raw continuous data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like CHB-MIT. Helps convert unengineered time-series into compact representations.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PIPELINE SELECTION TRADE-OFFS</a:t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6"/>
          <p:cNvSpPr/>
          <p:nvPr/>
        </p:nvSpPr>
        <p:spPr>
          <a:xfrm>
            <a:off x="5524500" y="2709862"/>
            <a:ext cx="1143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6"/>
          <p:cNvSpPr txBox="1"/>
          <p:nvPr/>
        </p:nvSpPr>
        <p:spPr>
          <a:xfrm>
            <a:off x="2095500" y="3033712"/>
            <a:ext cx="8001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EEG Dataset Profiles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2286000" y="3557587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Studying three distinct datasets representing raw recordings, structured features, and time-series segments.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76462"/>
            <a:ext cx="5324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 txBox="1"/>
          <p:nvPr/>
        </p:nvSpPr>
        <p:spPr>
          <a:xfrm>
            <a:off x="6286500" y="2176462"/>
            <a:ext cx="559069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Raw Continuous EEG</a:t>
            </a:r>
            <a:endParaRPr/>
          </a:p>
        </p:txBody>
      </p:sp>
      <p:sp>
        <p:nvSpPr>
          <p:cNvPr id="275" name="Google Shape;275;p27"/>
          <p:cNvSpPr txBox="1"/>
          <p:nvPr/>
        </p:nvSpPr>
        <p:spPr>
          <a:xfrm>
            <a:off x="6286500" y="2690812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Recordings from pediatric patients. Large-scale and highly realistic.</a:t>
            </a:r>
            <a:endParaRPr/>
          </a:p>
        </p:txBody>
      </p:sp>
      <p:pic>
        <p:nvPicPr>
          <p:cNvPr descr="image.png" id="276" name="Google Shape;27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185987"/>
            <a:ext cx="53054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7"/>
          <p:cNvSpPr txBox="1"/>
          <p:nvPr/>
        </p:nvSpPr>
        <p:spPr>
          <a:xfrm>
            <a:off x="6562725" y="3383756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6667500" y="3386137"/>
            <a:ext cx="49434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Size: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42.62 GB (686 EDF files)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6562725" y="365521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6667500" y="3657600"/>
            <a:ext cx="49434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Imbalance: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~20.5% seizure files</a:t>
            </a: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6562725" y="3926681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6667500" y="3929062"/>
            <a:ext cx="49434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Challenges: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Extreme noise, patient variability, and recording artifacts.</a:t>
            </a:r>
            <a:endParaRPr/>
          </a:p>
        </p:txBody>
      </p:sp>
      <p:sp>
        <p:nvSpPr>
          <p:cNvPr id="283" name="Google Shape;283;p27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CHB-MIT SCALP EEG DATASET</a:t>
            </a:r>
            <a:endParaRPr/>
          </a:p>
        </p:txBody>
      </p:sp>
      <p:sp>
        <p:nvSpPr>
          <p:cNvPr id="284" name="Google Shape;284;p27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00212"/>
            <a:ext cx="53244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8"/>
          <p:cNvSpPr txBox="1"/>
          <p:nvPr/>
        </p:nvSpPr>
        <p:spPr>
          <a:xfrm>
            <a:off x="581025" y="1700212"/>
            <a:ext cx="559069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Structured Tabular Features</a:t>
            </a:r>
            <a:endParaRPr/>
          </a:p>
        </p:txBody>
      </p:sp>
      <p:sp>
        <p:nvSpPr>
          <p:cNvPr id="292" name="Google Shape;292;p28"/>
          <p:cNvSpPr txBox="1"/>
          <p:nvPr/>
        </p:nvSpPr>
        <p:spPr>
          <a:xfrm>
            <a:off x="581025" y="2214562"/>
            <a:ext cx="53244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Cleaned and feature-engineered dataset from 80 subjects.</a:t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581025" y="3605212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Used to test if preprocessing order matters even on clean, structured data.</a:t>
            </a:r>
            <a:endParaRPr/>
          </a:p>
        </p:txBody>
      </p:sp>
      <p:pic>
        <p:nvPicPr>
          <p:cNvPr descr="image.png" id="294" name="Google Shape;29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709737"/>
            <a:ext cx="53054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8"/>
          <p:cNvSpPr txBox="1"/>
          <p:nvPr/>
        </p:nvSpPr>
        <p:spPr>
          <a:xfrm>
            <a:off x="857250" y="2636043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6" name="Google Shape;296;p28"/>
          <p:cNvSpPr txBox="1"/>
          <p:nvPr/>
        </p:nvSpPr>
        <p:spPr>
          <a:xfrm>
            <a:off x="962025" y="2638425"/>
            <a:ext cx="49434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Instances: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8,000 tabular rows</a:t>
            </a:r>
            <a:endParaRPr/>
          </a:p>
        </p:txBody>
      </p:sp>
      <p:sp>
        <p:nvSpPr>
          <p:cNvPr id="297" name="Google Shape;297;p28"/>
          <p:cNvSpPr txBox="1"/>
          <p:nvPr/>
        </p:nvSpPr>
        <p:spPr>
          <a:xfrm>
            <a:off x="857250" y="2907506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8" name="Google Shape;298;p28"/>
          <p:cNvSpPr txBox="1"/>
          <p:nvPr/>
        </p:nvSpPr>
        <p:spPr>
          <a:xfrm>
            <a:off x="962025" y="2909887"/>
            <a:ext cx="49434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Channels: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16 EEG features (X1-X16)</a:t>
            </a:r>
            <a:endParaRPr/>
          </a:p>
        </p:txBody>
      </p:sp>
      <p:sp>
        <p:nvSpPr>
          <p:cNvPr id="299" name="Google Shape;299;p28"/>
          <p:cNvSpPr txBox="1"/>
          <p:nvPr/>
        </p:nvSpPr>
        <p:spPr>
          <a:xfrm>
            <a:off x="857250" y="317896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0" name="Google Shape;300;p28"/>
          <p:cNvSpPr txBox="1"/>
          <p:nvPr/>
        </p:nvSpPr>
        <p:spPr>
          <a:xfrm>
            <a:off x="962025" y="3181350"/>
            <a:ext cx="49434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Ratio: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3:1 Initial imbalance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BEED: BANGALORE EEG</a:t>
            </a:r>
            <a:endParaRPr/>
          </a:p>
        </p:txBody>
      </p:sp>
      <p:sp>
        <p:nvSpPr>
          <p:cNvPr id="302" name="Google Shape;302;p28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9"/>
          <p:cNvSpPr txBox="1"/>
          <p:nvPr/>
        </p:nvSpPr>
        <p:spPr>
          <a:xfrm>
            <a:off x="6667500" y="1462087"/>
            <a:ext cx="5190648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RECOGNITION DATASET</a:t>
            </a:r>
            <a:endParaRPr/>
          </a:p>
        </p:txBody>
      </p:sp>
      <p:sp>
        <p:nvSpPr>
          <p:cNvPr id="308" name="Google Shape;308;p29"/>
          <p:cNvSpPr txBox="1"/>
          <p:nvPr/>
        </p:nvSpPr>
        <p:spPr>
          <a:xfrm>
            <a:off x="6667500" y="2290762"/>
            <a:ext cx="519064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Flattened Time-Series</a:t>
            </a:r>
            <a:endParaRPr/>
          </a:p>
        </p:txBody>
      </p:sp>
      <p:sp>
        <p:nvSpPr>
          <p:cNvPr id="309" name="Google Shape;309;p29"/>
          <p:cNvSpPr txBox="1"/>
          <p:nvPr/>
        </p:nvSpPr>
        <p:spPr>
          <a:xfrm>
            <a:off x="6667500" y="2805112"/>
            <a:ext cx="49434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11,500 segments representing 1-second EEG bursts. 178 features per sample.</a:t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7096125" y="3614737"/>
            <a:ext cx="45148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Class conversion: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Binary (Seizure vs All others)</a:t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7096125" y="4124325"/>
            <a:ext cx="45148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Imbalance: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4:1 ratio</a:t>
            </a:r>
            <a:endParaRPr/>
          </a:p>
        </p:txBody>
      </p:sp>
      <p:sp>
        <p:nvSpPr>
          <p:cNvPr id="312" name="Google Shape;312;p29"/>
          <p:cNvSpPr txBox="1"/>
          <p:nvPr/>
        </p:nvSpPr>
        <p:spPr>
          <a:xfrm>
            <a:off x="7096125" y="4633912"/>
            <a:ext cx="45148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 Case: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Studying PCA behavior in high-dimensional feature spaces.</a:t>
            </a:r>
            <a:endParaRPr/>
          </a:p>
        </p:txBody>
      </p:sp>
      <p:pic>
        <p:nvPicPr>
          <p:cNvPr descr="image.png" id="313" name="Google Shape;31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8" name="Google Shape;31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9" name="Google Shape;319;p30"/>
          <p:cNvGraphicFramePr/>
          <p:nvPr/>
        </p:nvGraphicFramePr>
        <p:xfrm>
          <a:off x="581025" y="2676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{AD300554-3943-4F22-8DCF-B5FFF311CECB}</a:tableStyleId>
              </a:tblPr>
              <a:tblGrid>
                <a:gridCol w="1860050"/>
                <a:gridCol w="2750800"/>
                <a:gridCol w="1977925"/>
                <a:gridCol w="4441175"/>
              </a:tblGrid>
              <a:tr h="6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2DD4B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2DD4B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2DD4B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Dimensions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2DD4B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Justification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CHB-MIT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Raw Scalp EEG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Continuous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Real-world noise; severe imbalance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Structured Features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16 Channels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Low-dimensional clean baseline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Seizure Rec.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Flattened Segments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178 Features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High-dimensional structured study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0" name="Google Shape;320;p30"/>
          <p:cNvSpPr/>
          <p:nvPr/>
        </p:nvSpPr>
        <p:spPr>
          <a:xfrm>
            <a:off x="581025" y="3938587"/>
            <a:ext cx="1860053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0"/>
          <p:cNvSpPr/>
          <p:nvPr/>
        </p:nvSpPr>
        <p:spPr>
          <a:xfrm>
            <a:off x="2441078" y="3938587"/>
            <a:ext cx="275079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0"/>
          <p:cNvSpPr/>
          <p:nvPr/>
        </p:nvSpPr>
        <p:spPr>
          <a:xfrm>
            <a:off x="5191869" y="3938587"/>
            <a:ext cx="197792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0"/>
          <p:cNvSpPr/>
          <p:nvPr/>
        </p:nvSpPr>
        <p:spPr>
          <a:xfrm>
            <a:off x="7169794" y="3938587"/>
            <a:ext cx="44411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0"/>
          <p:cNvSpPr/>
          <p:nvPr/>
        </p:nvSpPr>
        <p:spPr>
          <a:xfrm>
            <a:off x="581025" y="4562475"/>
            <a:ext cx="1860053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0"/>
          <p:cNvSpPr/>
          <p:nvPr/>
        </p:nvSpPr>
        <p:spPr>
          <a:xfrm>
            <a:off x="2441078" y="4562475"/>
            <a:ext cx="275079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0"/>
          <p:cNvSpPr/>
          <p:nvPr/>
        </p:nvSpPr>
        <p:spPr>
          <a:xfrm>
            <a:off x="5191869" y="4562475"/>
            <a:ext cx="197792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0"/>
          <p:cNvSpPr/>
          <p:nvPr/>
        </p:nvSpPr>
        <p:spPr>
          <a:xfrm>
            <a:off x="7169794" y="4562475"/>
            <a:ext cx="44411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581025" y="5186362"/>
            <a:ext cx="1860053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0"/>
          <p:cNvSpPr/>
          <p:nvPr/>
        </p:nvSpPr>
        <p:spPr>
          <a:xfrm>
            <a:off x="2441078" y="5186362"/>
            <a:ext cx="275079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0"/>
          <p:cNvSpPr/>
          <p:nvPr/>
        </p:nvSpPr>
        <p:spPr>
          <a:xfrm>
            <a:off x="5191869" y="5186362"/>
            <a:ext cx="197792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0"/>
          <p:cNvSpPr/>
          <p:nvPr/>
        </p:nvSpPr>
        <p:spPr>
          <a:xfrm>
            <a:off x="7169794" y="5186362"/>
            <a:ext cx="44411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0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DATASET COLLECTION SUMMARY</a:t>
            </a:r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8" name="Google Shape;33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1"/>
          <p:cNvSpPr/>
          <p:nvPr/>
        </p:nvSpPr>
        <p:spPr>
          <a:xfrm>
            <a:off x="5524500" y="2709862"/>
            <a:ext cx="1143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1"/>
          <p:cNvSpPr txBox="1"/>
          <p:nvPr/>
        </p:nvSpPr>
        <p:spPr>
          <a:xfrm>
            <a:off x="2095500" y="3033712"/>
            <a:ext cx="8001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Experimental Findings</a:t>
            </a:r>
            <a:endParaRPr/>
          </a:p>
        </p:txBody>
      </p:sp>
      <p:sp>
        <p:nvSpPr>
          <p:cNvPr id="341" name="Google Shape;341;p31"/>
          <p:cNvSpPr txBox="1"/>
          <p:nvPr/>
        </p:nvSpPr>
        <p:spPr>
          <a:xfrm>
            <a:off x="2286000" y="3557587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Analyzing baseline results, bias-variance trade-offs, and the specific impact of regularisation methods.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86037"/>
            <a:ext cx="532447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86037"/>
            <a:ext cx="5324475" cy="2243137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2"/>
          <p:cNvSpPr txBox="1"/>
          <p:nvPr/>
        </p:nvSpPr>
        <p:spPr>
          <a:xfrm>
            <a:off x="923925" y="2928937"/>
            <a:ext cx="487060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Underfitting (Bias)</a:t>
            </a:r>
            <a:endParaRPr/>
          </a:p>
        </p:txBody>
      </p:sp>
      <p:sp>
        <p:nvSpPr>
          <p:cNvPr id="350" name="Google Shape;350;p32"/>
          <p:cNvSpPr txBox="1"/>
          <p:nvPr/>
        </p:nvSpPr>
        <p:spPr>
          <a:xfrm>
            <a:off x="923925" y="3443287"/>
            <a:ext cx="46386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Cause: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Strong regularisation (low C) or limited features (top 2).</a:t>
            </a:r>
            <a:endParaRPr/>
          </a:p>
        </p:txBody>
      </p:sp>
      <p:sp>
        <p:nvSpPr>
          <p:cNvPr id="351" name="Google Shape;351;p32"/>
          <p:cNvSpPr txBox="1"/>
          <p:nvPr/>
        </p:nvSpPr>
        <p:spPr>
          <a:xfrm>
            <a:off x="923925" y="4100512"/>
            <a:ext cx="46386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Poor training and validation scores. Model fails to learn patterns.</a:t>
            </a:r>
            <a:endParaRPr/>
          </a:p>
        </p:txBody>
      </p:sp>
      <p:sp>
        <p:nvSpPr>
          <p:cNvPr id="352" name="Google Shape;352;p32"/>
          <p:cNvSpPr txBox="1"/>
          <p:nvPr/>
        </p:nvSpPr>
        <p:spPr>
          <a:xfrm>
            <a:off x="6629400" y="2928937"/>
            <a:ext cx="487060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Overfitting (Variance)</a:t>
            </a:r>
            <a:endParaRPr/>
          </a:p>
        </p:txBody>
      </p:sp>
      <p:sp>
        <p:nvSpPr>
          <p:cNvPr id="353" name="Google Shape;353;p32"/>
          <p:cNvSpPr txBox="1"/>
          <p:nvPr/>
        </p:nvSpPr>
        <p:spPr>
          <a:xfrm>
            <a:off x="6629400" y="3443287"/>
            <a:ext cx="46386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Cause: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No regularisation and large feature space.</a:t>
            </a:r>
            <a:endParaRPr/>
          </a:p>
        </p:txBody>
      </p:sp>
      <p:sp>
        <p:nvSpPr>
          <p:cNvPr id="354" name="Google Shape;354;p32"/>
          <p:cNvSpPr txBox="1"/>
          <p:nvPr/>
        </p:nvSpPr>
        <p:spPr>
          <a:xfrm>
            <a:off x="6629400" y="3829050"/>
            <a:ext cx="46386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Training score significantly higher than validation. Model fits noise.</a:t>
            </a:r>
            <a:endParaRPr/>
          </a:p>
        </p:txBody>
      </p:sp>
      <p:sp>
        <p:nvSpPr>
          <p:cNvPr id="355" name="Google Shape;355;p32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BIAS-VARIANCE DEMONSTRATIONS</a:t>
            </a:r>
            <a:endParaRPr/>
          </a:p>
        </p:txBody>
      </p:sp>
      <p:sp>
        <p:nvSpPr>
          <p:cNvPr id="356" name="Google Shape;356;p32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1" name="Google Shape;36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38337"/>
            <a:ext cx="53244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1947862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3"/>
          <p:cNvSpPr txBox="1"/>
          <p:nvPr/>
        </p:nvSpPr>
        <p:spPr>
          <a:xfrm>
            <a:off x="6286500" y="1938337"/>
            <a:ext cx="559069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Key Observations</a:t>
            </a:r>
            <a:endParaRPr/>
          </a:p>
        </p:txBody>
      </p:sp>
      <p:sp>
        <p:nvSpPr>
          <p:cNvPr id="365" name="Google Shape;365;p33"/>
          <p:cNvSpPr txBox="1"/>
          <p:nvPr/>
        </p:nvSpPr>
        <p:spPr>
          <a:xfrm>
            <a:off x="6562725" y="2488406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66" name="Google Shape;366;p33"/>
          <p:cNvSpPr txBox="1"/>
          <p:nvPr/>
        </p:nvSpPr>
        <p:spPr>
          <a:xfrm>
            <a:off x="6667500" y="2490787"/>
            <a:ext cx="49434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High bias curves converge early at low performance levels.</a:t>
            </a:r>
            <a:endParaRPr/>
          </a:p>
        </p:txBody>
      </p:sp>
      <p:sp>
        <p:nvSpPr>
          <p:cNvPr id="367" name="Google Shape;367;p33"/>
          <p:cNvSpPr txBox="1"/>
          <p:nvPr/>
        </p:nvSpPr>
        <p:spPr>
          <a:xfrm>
            <a:off x="6562725" y="275986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68" name="Google Shape;368;p33"/>
          <p:cNvSpPr txBox="1"/>
          <p:nvPr/>
        </p:nvSpPr>
        <p:spPr>
          <a:xfrm>
            <a:off x="6667500" y="2762250"/>
            <a:ext cx="49434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High variance curves show a widening gap between train and test performance.</a:t>
            </a:r>
            <a:endParaRPr/>
          </a:p>
        </p:txBody>
      </p:sp>
      <p:sp>
        <p:nvSpPr>
          <p:cNvPr id="369" name="Google Shape;369;p33"/>
          <p:cNvSpPr txBox="1"/>
          <p:nvPr/>
        </p:nvSpPr>
        <p:spPr>
          <a:xfrm>
            <a:off x="6562725" y="3302793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0" name="Google Shape;370;p33"/>
          <p:cNvSpPr txBox="1"/>
          <p:nvPr/>
        </p:nvSpPr>
        <p:spPr>
          <a:xfrm>
            <a:off x="6667500" y="3305175"/>
            <a:ext cx="49434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Optimal regularisation (L1) reduces this gap while maintaining high F1-scores.</a:t>
            </a:r>
            <a:endParaRPr/>
          </a:p>
        </p:txBody>
      </p:sp>
      <p:sp>
        <p:nvSpPr>
          <p:cNvPr id="371" name="Google Shape;371;p33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LEARNING CURVE ANALYSIS</a:t>
            </a:r>
            <a:endParaRPr/>
          </a:p>
        </p:txBody>
      </p:sp>
      <p:sp>
        <p:nvSpPr>
          <p:cNvPr id="372" name="Google Shape;372;p33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7" name="Google Shape;37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8" name="Google Shape;378;p34"/>
          <p:cNvGraphicFramePr/>
          <p:nvPr/>
        </p:nvGraphicFramePr>
        <p:xfrm>
          <a:off x="581025" y="23883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{AD300554-3943-4F22-8DCF-B5FFF311CECB}</a:tableStyleId>
              </a:tblPr>
              <a:tblGrid>
                <a:gridCol w="2796775"/>
                <a:gridCol w="2954375"/>
                <a:gridCol w="3112000"/>
                <a:gridCol w="2166800"/>
              </a:tblGrid>
              <a:tr h="6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2DD4B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2DD4B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Best Pipeline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2DD4B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Best F1-Score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2DD4B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PR-AUC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CHB-MIT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Pipeline 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0.4771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0.4915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Pipeline 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0.7094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0.5807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Seizure Rec.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Pipeline 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0.5321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0.6616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9" name="Google Shape;379;p34"/>
          <p:cNvSpPr txBox="1"/>
          <p:nvPr/>
        </p:nvSpPr>
        <p:spPr>
          <a:xfrm>
            <a:off x="2271712" y="5103018"/>
            <a:ext cx="76485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Insight: PCA (Pipeline B) reduced BEED F1-score from 0.71 to 0.59 despite preserving variance.</a:t>
            </a:r>
            <a:endParaRPr/>
          </a:p>
        </p:txBody>
      </p:sp>
      <p:sp>
        <p:nvSpPr>
          <p:cNvPr id="380" name="Google Shape;380;p34"/>
          <p:cNvSpPr/>
          <p:nvPr/>
        </p:nvSpPr>
        <p:spPr>
          <a:xfrm>
            <a:off x="581025" y="3650456"/>
            <a:ext cx="279677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3377803" y="3650456"/>
            <a:ext cx="295438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6332190" y="3650456"/>
            <a:ext cx="311199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9444186" y="3650456"/>
            <a:ext cx="216678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4"/>
          <p:cNvSpPr/>
          <p:nvPr/>
        </p:nvSpPr>
        <p:spPr>
          <a:xfrm>
            <a:off x="581025" y="4274343"/>
            <a:ext cx="279677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4"/>
          <p:cNvSpPr/>
          <p:nvPr/>
        </p:nvSpPr>
        <p:spPr>
          <a:xfrm>
            <a:off x="3377803" y="4274343"/>
            <a:ext cx="295438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4"/>
          <p:cNvSpPr/>
          <p:nvPr/>
        </p:nvSpPr>
        <p:spPr>
          <a:xfrm>
            <a:off x="6332190" y="4274343"/>
            <a:ext cx="311199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4"/>
          <p:cNvSpPr/>
          <p:nvPr/>
        </p:nvSpPr>
        <p:spPr>
          <a:xfrm>
            <a:off x="9444186" y="4274343"/>
            <a:ext cx="216678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4"/>
          <p:cNvSpPr/>
          <p:nvPr/>
        </p:nvSpPr>
        <p:spPr>
          <a:xfrm>
            <a:off x="581025" y="4898231"/>
            <a:ext cx="279677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4"/>
          <p:cNvSpPr/>
          <p:nvPr/>
        </p:nvSpPr>
        <p:spPr>
          <a:xfrm>
            <a:off x="3377803" y="4898231"/>
            <a:ext cx="295438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4"/>
          <p:cNvSpPr/>
          <p:nvPr/>
        </p:nvSpPr>
        <p:spPr>
          <a:xfrm>
            <a:off x="6332190" y="4898231"/>
            <a:ext cx="311199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4"/>
          <p:cNvSpPr/>
          <p:nvPr/>
        </p:nvSpPr>
        <p:spPr>
          <a:xfrm>
            <a:off x="9444186" y="4898231"/>
            <a:ext cx="216678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4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PIPELINE BASELINE RESULTS</a:t>
            </a:r>
            <a:endParaRPr/>
          </a:p>
        </p:txBody>
      </p:sp>
      <p:sp>
        <p:nvSpPr>
          <p:cNvPr id="393" name="Google Shape;393;p34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8" name="Google Shape;39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5"/>
          <p:cNvSpPr/>
          <p:nvPr/>
        </p:nvSpPr>
        <p:spPr>
          <a:xfrm>
            <a:off x="5524500" y="2709862"/>
            <a:ext cx="1143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5"/>
          <p:cNvSpPr txBox="1"/>
          <p:nvPr/>
        </p:nvSpPr>
        <p:spPr>
          <a:xfrm>
            <a:off x="2095500" y="3033712"/>
            <a:ext cx="8001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Regularisation In-Depth</a:t>
            </a:r>
            <a:endParaRPr/>
          </a:p>
        </p:txBody>
      </p:sp>
      <p:sp>
        <p:nvSpPr>
          <p:cNvPr id="401" name="Google Shape;401;p35"/>
          <p:cNvSpPr txBox="1"/>
          <p:nvPr/>
        </p:nvSpPr>
        <p:spPr>
          <a:xfrm>
            <a:off x="2286000" y="3557587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Evaluating the performance and sparsity characteristics of L1, L2, and Elastic Net across datasets.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6" name="Google Shape;40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09700"/>
            <a:ext cx="11029950" cy="486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6"/>
          <p:cNvSpPr txBox="1"/>
          <p:nvPr/>
        </p:nvSpPr>
        <p:spPr>
          <a:xfrm>
            <a:off x="919162" y="4436268"/>
            <a:ext cx="103536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L1 regularisation successfully filters noisy features in higher-dimensional EEG data, reaching over 50% sparsity in raw recordings.</a:t>
            </a:r>
            <a:endParaRPr/>
          </a:p>
        </p:txBody>
      </p:sp>
      <p:sp>
        <p:nvSpPr>
          <p:cNvPr id="409" name="Google Shape;409;p36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L1 SPARSITY PERFORMANCE</a:t>
            </a:r>
            <a:endParaRPr/>
          </a:p>
        </p:txBody>
      </p:sp>
      <p:sp>
        <p:nvSpPr>
          <p:cNvPr id="410" name="Google Shape;410;p36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5" name="Google Shape;41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7"/>
          <p:cNvSpPr/>
          <p:nvPr/>
        </p:nvSpPr>
        <p:spPr>
          <a:xfrm>
            <a:off x="5524500" y="2709862"/>
            <a:ext cx="1143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7"/>
          <p:cNvSpPr txBox="1"/>
          <p:nvPr/>
        </p:nvSpPr>
        <p:spPr>
          <a:xfrm>
            <a:off x="2095500" y="3033712"/>
            <a:ext cx="8001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Handling Class Imbalance</a:t>
            </a:r>
            <a:endParaRPr/>
          </a:p>
        </p:txBody>
      </p:sp>
      <p:sp>
        <p:nvSpPr>
          <p:cNvPr id="418" name="Google Shape;418;p37"/>
          <p:cNvSpPr txBox="1"/>
          <p:nvPr/>
        </p:nvSpPr>
        <p:spPr>
          <a:xfrm>
            <a:off x="2286000" y="3557587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Investigating how synthetic oversampling techniques like SMOTE interact with model regularisation.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3" name="Google Shape;42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88381"/>
            <a:ext cx="3486150" cy="3109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88381"/>
            <a:ext cx="3486150" cy="3109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6" name="Google Shape;426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288381"/>
            <a:ext cx="3486150" cy="310991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8"/>
          <p:cNvSpPr txBox="1"/>
          <p:nvPr/>
        </p:nvSpPr>
        <p:spPr>
          <a:xfrm>
            <a:off x="793908" y="3231356"/>
            <a:ext cx="306038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Borderline-SMOTE</a:t>
            </a:r>
            <a:endParaRPr/>
          </a:p>
        </p:txBody>
      </p:sp>
      <p:sp>
        <p:nvSpPr>
          <p:cNvPr id="428" name="Google Shape;428;p38"/>
          <p:cNvSpPr txBox="1"/>
          <p:nvPr/>
        </p:nvSpPr>
        <p:spPr>
          <a:xfrm>
            <a:off x="866775" y="3745706"/>
            <a:ext cx="29146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Generates samples near the decision boundary. Targeted minority-class learning.</a:t>
            </a:r>
            <a:endParaRPr/>
          </a:p>
        </p:txBody>
      </p:sp>
      <p:sp>
        <p:nvSpPr>
          <p:cNvPr id="429" name="Google Shape;429;p38"/>
          <p:cNvSpPr txBox="1"/>
          <p:nvPr/>
        </p:nvSpPr>
        <p:spPr>
          <a:xfrm>
            <a:off x="4565808" y="3231356"/>
            <a:ext cx="306038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Oversampling</a:t>
            </a:r>
            <a:endParaRPr/>
          </a:p>
        </p:txBody>
      </p:sp>
      <p:sp>
        <p:nvSpPr>
          <p:cNvPr id="430" name="Google Shape;430;p38"/>
          <p:cNvSpPr txBox="1"/>
          <p:nvPr/>
        </p:nvSpPr>
        <p:spPr>
          <a:xfrm>
            <a:off x="4638675" y="3745706"/>
            <a:ext cx="29146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Simple balancing of seizure vs non-seizure samples. Improves recall sensitivity.</a:t>
            </a:r>
            <a:endParaRPr/>
          </a:p>
        </p:txBody>
      </p:sp>
      <p:sp>
        <p:nvSpPr>
          <p:cNvPr id="431" name="Google Shape;431;p38"/>
          <p:cNvSpPr txBox="1"/>
          <p:nvPr/>
        </p:nvSpPr>
        <p:spPr>
          <a:xfrm>
            <a:off x="8337708" y="3231356"/>
            <a:ext cx="306038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Post-SMOTE Regularisation</a:t>
            </a:r>
            <a:endParaRPr/>
          </a:p>
        </p:txBody>
      </p:sp>
      <p:sp>
        <p:nvSpPr>
          <p:cNvPr id="432" name="Google Shape;432;p38"/>
          <p:cNvSpPr txBox="1"/>
          <p:nvPr/>
        </p:nvSpPr>
        <p:spPr>
          <a:xfrm>
            <a:off x="8410575" y="4145756"/>
            <a:ext cx="29146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L1 filters synthetic noise introduced by oversampling, stabilizing the boundary.</a:t>
            </a:r>
            <a:endParaRPr/>
          </a:p>
        </p:txBody>
      </p:sp>
      <p:pic>
        <p:nvPicPr>
          <p:cNvPr descr="image.png" id="433" name="Google Shape;433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38362" y="2621756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4" name="Google Shape;434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10262" y="2621756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5" name="Google Shape;435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5012" y="2621756"/>
            <a:ext cx="485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8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BALANCING TECHNIQUES USED</a:t>
            </a:r>
            <a:endParaRPr/>
          </a:p>
        </p:txBody>
      </p:sp>
      <p:sp>
        <p:nvSpPr>
          <p:cNvPr id="437" name="Google Shape;437;p38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2" name="Google Shape;44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3" name="Google Shape;44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09700"/>
            <a:ext cx="11029950" cy="486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9"/>
          <p:cNvSpPr txBox="1"/>
          <p:nvPr/>
        </p:nvSpPr>
        <p:spPr>
          <a:xfrm>
            <a:off x="581025" y="5181600"/>
            <a:ext cx="110299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Interpretation: As balance increases, sparsity initially drops as the model uses more features. However, excessive SMOTE introduces noise, triggering L1 to remove redundant synthetic patterns again.</a:t>
            </a:r>
            <a:endParaRPr/>
          </a:p>
        </p:txBody>
      </p:sp>
      <p:sp>
        <p:nvSpPr>
          <p:cNvPr id="445" name="Google Shape;445;p39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INTERACTION: SPARSITY VS SAMPLING</a:t>
            </a:r>
            <a:endParaRPr/>
          </a:p>
        </p:txBody>
      </p:sp>
      <p:sp>
        <p:nvSpPr>
          <p:cNvPr id="446" name="Google Shape;446;p39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1" name="Google Shape;45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0"/>
          <p:cNvSpPr txBox="1"/>
          <p:nvPr/>
        </p:nvSpPr>
        <p:spPr>
          <a:xfrm>
            <a:off x="1762125" y="2900362"/>
            <a:ext cx="9096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L1 Regularisation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generalised best overall, providing noise filtering and improved F1-scores.</a:t>
            </a:r>
            <a:endParaRPr/>
          </a:p>
        </p:txBody>
      </p:sp>
      <p:sp>
        <p:nvSpPr>
          <p:cNvPr id="453" name="Google Shape;453;p40"/>
          <p:cNvSpPr txBox="1"/>
          <p:nvPr/>
        </p:nvSpPr>
        <p:spPr>
          <a:xfrm>
            <a:off x="1762125" y="3409950"/>
            <a:ext cx="9096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Preprocessing Order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is vital: Selection-first pipelines outperform PCA in structured EEG data.</a:t>
            </a:r>
            <a:endParaRPr/>
          </a:p>
        </p:txBody>
      </p:sp>
      <p:sp>
        <p:nvSpPr>
          <p:cNvPr id="454" name="Google Shape;454;p40"/>
          <p:cNvSpPr txBox="1"/>
          <p:nvPr/>
        </p:nvSpPr>
        <p:spPr>
          <a:xfrm>
            <a:off x="1762125" y="3919537"/>
            <a:ext cx="9096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PCA Dilution: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PCA can preserve 98% variance while losing class-discriminative information.</a:t>
            </a:r>
            <a:endParaRPr/>
          </a:p>
        </p:txBody>
      </p:sp>
      <p:sp>
        <p:nvSpPr>
          <p:cNvPr id="455" name="Google Shape;455;p40"/>
          <p:cNvSpPr txBox="1"/>
          <p:nvPr/>
        </p:nvSpPr>
        <p:spPr>
          <a:xfrm>
            <a:off x="1762125" y="4429125"/>
            <a:ext cx="9096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SMOTE Interaction: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Oversampling requires strong regularisation to handle synthetic noise.</a:t>
            </a:r>
            <a:endParaRPr/>
          </a:p>
        </p:txBody>
      </p:sp>
      <p:pic>
        <p:nvPicPr>
          <p:cNvPr descr="image.png" id="456" name="Google Shape;45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93370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7" name="Google Shape;45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4432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8" name="Google Shape;45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9528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9" name="Google Shape;45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4462462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0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KEY RESEARCH CONCLUSIONS</a:t>
            </a:r>
            <a:endParaRPr/>
          </a:p>
        </p:txBody>
      </p:sp>
      <p:sp>
        <p:nvSpPr>
          <p:cNvPr id="461" name="Google Shape;461;p40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6" name="Google Shape;46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1"/>
          <p:cNvSpPr txBox="1"/>
          <p:nvPr/>
        </p:nvSpPr>
        <p:spPr>
          <a:xfrm>
            <a:off x="2286000" y="1674018"/>
            <a:ext cx="8001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468" name="Google Shape;468;p41"/>
          <p:cNvSpPr txBox="1"/>
          <p:nvPr/>
        </p:nvSpPr>
        <p:spPr>
          <a:xfrm>
            <a:off x="2286000" y="3293268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Investigating Preprocessing, Model Complexity, and Regularisation in Seizure Prediction</a:t>
            </a:r>
            <a:endParaRPr/>
          </a:p>
        </p:txBody>
      </p:sp>
      <p:sp>
        <p:nvSpPr>
          <p:cNvPr id="469" name="Google Shape;469;p41"/>
          <p:cNvSpPr txBox="1"/>
          <p:nvPr/>
        </p:nvSpPr>
        <p:spPr>
          <a:xfrm>
            <a:off x="2286000" y="4455318"/>
            <a:ext cx="7620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Thank you for your attention.</a:t>
            </a:r>
            <a:endParaRPr/>
          </a:p>
        </p:txBody>
      </p:sp>
      <p:sp>
        <p:nvSpPr>
          <p:cNvPr id="470" name="Google Shape;470;p41"/>
          <p:cNvSpPr txBox="1"/>
          <p:nvPr/>
        </p:nvSpPr>
        <p:spPr>
          <a:xfrm>
            <a:off x="2286000" y="4841081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Contact: tahirazam539@gmail.com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5" name="Google Shape;47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2"/>
          <p:cNvSpPr/>
          <p:nvPr/>
        </p:nvSpPr>
        <p:spPr>
          <a:xfrm>
            <a:off x="581025" y="1447800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2"/>
          <p:cNvSpPr/>
          <p:nvPr/>
        </p:nvSpPr>
        <p:spPr>
          <a:xfrm>
            <a:off x="581025" y="2219325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2"/>
          <p:cNvSpPr/>
          <p:nvPr/>
        </p:nvSpPr>
        <p:spPr>
          <a:xfrm>
            <a:off x="581025" y="2990850"/>
            <a:ext cx="110299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2"/>
          <p:cNvSpPr/>
          <p:nvPr/>
        </p:nvSpPr>
        <p:spPr>
          <a:xfrm>
            <a:off x="581025" y="3933825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2"/>
          <p:cNvSpPr/>
          <p:nvPr/>
        </p:nvSpPr>
        <p:spPr>
          <a:xfrm>
            <a:off x="581025" y="4705350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2"/>
          <p:cNvSpPr/>
          <p:nvPr/>
        </p:nvSpPr>
        <p:spPr>
          <a:xfrm>
            <a:off x="581025" y="22098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2"/>
          <p:cNvSpPr/>
          <p:nvPr/>
        </p:nvSpPr>
        <p:spPr>
          <a:xfrm>
            <a:off x="581025" y="22098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2"/>
          <p:cNvSpPr/>
          <p:nvPr/>
        </p:nvSpPr>
        <p:spPr>
          <a:xfrm>
            <a:off x="581025" y="29813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2"/>
          <p:cNvSpPr/>
          <p:nvPr/>
        </p:nvSpPr>
        <p:spPr>
          <a:xfrm>
            <a:off x="581025" y="29813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2"/>
          <p:cNvSpPr/>
          <p:nvPr/>
        </p:nvSpPr>
        <p:spPr>
          <a:xfrm>
            <a:off x="581025" y="39243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2"/>
          <p:cNvSpPr/>
          <p:nvPr/>
        </p:nvSpPr>
        <p:spPr>
          <a:xfrm>
            <a:off x="581025" y="39243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2"/>
          <p:cNvSpPr/>
          <p:nvPr/>
        </p:nvSpPr>
        <p:spPr>
          <a:xfrm>
            <a:off x="581025" y="46958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2"/>
          <p:cNvSpPr/>
          <p:nvPr/>
        </p:nvSpPr>
        <p:spPr>
          <a:xfrm>
            <a:off x="581025" y="46958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2"/>
          <p:cNvSpPr/>
          <p:nvPr/>
        </p:nvSpPr>
        <p:spPr>
          <a:xfrm>
            <a:off x="581025" y="54673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2"/>
          <p:cNvSpPr/>
          <p:nvPr/>
        </p:nvSpPr>
        <p:spPr>
          <a:xfrm>
            <a:off x="581025" y="54673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91" name="Google Shape;49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906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42"/>
          <p:cNvSpPr txBox="1"/>
          <p:nvPr/>
        </p:nvSpPr>
        <p:spPr>
          <a:xfrm>
            <a:off x="1676400" y="1597818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https://www.mdpi.com/brainsci/brainsci-16-00411/article_deploy/html/images/brainsci-16-00411-g002-550.jpg</a:t>
            </a:r>
            <a:endParaRPr/>
          </a:p>
        </p:txBody>
      </p:sp>
      <p:sp>
        <p:nvSpPr>
          <p:cNvPr id="493" name="Google Shape;493;p42"/>
          <p:cNvSpPr txBox="1"/>
          <p:nvPr/>
        </p:nvSpPr>
        <p:spPr>
          <a:xfrm>
            <a:off x="1676400" y="1831181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www.mdpi.com</a:t>
            </a:r>
            <a:endParaRPr/>
          </a:p>
        </p:txBody>
      </p:sp>
      <p:pic>
        <p:nvPicPr>
          <p:cNvPr descr="image.png" id="494" name="Google Shape;494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3622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2"/>
          <p:cNvSpPr txBox="1"/>
          <p:nvPr/>
        </p:nvSpPr>
        <p:spPr>
          <a:xfrm>
            <a:off x="1676400" y="2369343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https://newsnetwork.mayoclinic.org/n7-mcnn/7bcc9724adf7b803/uploads/2024/07/Dr.-David-T.-Jones-Showing-Computer-Scans-16x9-1.jpg</a:t>
            </a:r>
            <a:endParaRPr/>
          </a:p>
        </p:txBody>
      </p:sp>
      <p:sp>
        <p:nvSpPr>
          <p:cNvPr id="496" name="Google Shape;496;p42"/>
          <p:cNvSpPr txBox="1"/>
          <p:nvPr/>
        </p:nvSpPr>
        <p:spPr>
          <a:xfrm>
            <a:off x="1676400" y="2602706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newsnetwork.mayoclinic.org</a:t>
            </a:r>
            <a:endParaRPr/>
          </a:p>
        </p:txBody>
      </p:sp>
      <p:pic>
        <p:nvPicPr>
          <p:cNvPr descr="image.png" id="497" name="Google Shape;497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2194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2"/>
          <p:cNvSpPr txBox="1"/>
          <p:nvPr/>
        </p:nvSpPr>
        <p:spPr>
          <a:xfrm>
            <a:off x="1676400" y="3133725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https://media.istockphoto.com/id/1202312636/vector/pediatrics-medical-care-for-children-set-of-linear-icons-in-the-form-of-a-circle.jpg?s=612x612&amp;w=0&amp;k=20&amp;c=5FQy__sUVeD2viH3KwltvsJqqSnMaKogZak6ewV2XZo=</a:t>
            </a:r>
            <a:endParaRPr/>
          </a:p>
        </p:txBody>
      </p:sp>
      <p:sp>
        <p:nvSpPr>
          <p:cNvPr id="499" name="Google Shape;499;p42"/>
          <p:cNvSpPr txBox="1"/>
          <p:nvPr/>
        </p:nvSpPr>
        <p:spPr>
          <a:xfrm>
            <a:off x="1676400" y="3552825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pic>
        <p:nvPicPr>
          <p:cNvPr descr="image.png" id="500" name="Google Shape;500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076700"/>
            <a:ext cx="1628775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2"/>
          <p:cNvSpPr txBox="1"/>
          <p:nvPr/>
        </p:nvSpPr>
        <p:spPr>
          <a:xfrm>
            <a:off x="1676400" y="4083843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https://www.frontiersin.org/files/Articles/1530256/xml-images/fpubh-13-1530256-g0001.webp</a:t>
            </a:r>
            <a:endParaRPr/>
          </a:p>
        </p:txBody>
      </p:sp>
      <p:sp>
        <p:nvSpPr>
          <p:cNvPr id="502" name="Google Shape;502;p42"/>
          <p:cNvSpPr txBox="1"/>
          <p:nvPr/>
        </p:nvSpPr>
        <p:spPr>
          <a:xfrm>
            <a:off x="1676400" y="4317206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www.frontiersin.org</a:t>
            </a:r>
            <a:endParaRPr/>
          </a:p>
        </p:txBody>
      </p:sp>
      <p:pic>
        <p:nvPicPr>
          <p:cNvPr descr="image.png" id="503" name="Google Shape;503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8482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2"/>
          <p:cNvSpPr txBox="1"/>
          <p:nvPr/>
        </p:nvSpPr>
        <p:spPr>
          <a:xfrm>
            <a:off x="1676400" y="4855368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https://www.bitbrain.com/_next/image?url=https%3A%2F%2Fcms.bitbrain.com%2Fassets%2F92406523-d49c-43f8-8c5a-a6556c00f1fb&amp;w=1920&amp;q=85</a:t>
            </a:r>
            <a:endParaRPr/>
          </a:p>
        </p:txBody>
      </p:sp>
      <p:sp>
        <p:nvSpPr>
          <p:cNvPr id="505" name="Google Shape;505;p42"/>
          <p:cNvSpPr txBox="1"/>
          <p:nvPr/>
        </p:nvSpPr>
        <p:spPr>
          <a:xfrm>
            <a:off x="1676400" y="5088731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www.bitbrain.com</a:t>
            </a:r>
            <a:endParaRPr/>
          </a:p>
        </p:txBody>
      </p:sp>
      <p:pic>
        <p:nvPicPr>
          <p:cNvPr descr="image.png" id="506" name="Google Shape;506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56197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2"/>
          <p:cNvSpPr txBox="1"/>
          <p:nvPr/>
        </p:nvSpPr>
        <p:spPr>
          <a:xfrm>
            <a:off x="1676400" y="5626893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https://png.pngtree.com/thumb_back/fh260/background/20260505/pngtree-business-data-analysis-graphs-and-charts-image_21776993.webp</a:t>
            </a:r>
            <a:endParaRPr/>
          </a:p>
        </p:txBody>
      </p:sp>
      <p:sp>
        <p:nvSpPr>
          <p:cNvPr id="508" name="Google Shape;508;p42"/>
          <p:cNvSpPr txBox="1"/>
          <p:nvPr/>
        </p:nvSpPr>
        <p:spPr>
          <a:xfrm>
            <a:off x="1676400" y="5860256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sp>
        <p:nvSpPr>
          <p:cNvPr id="509" name="Google Shape;509;p42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510" name="Google Shape;510;p42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5" name="Google Shape;51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6" name="Google Shape;51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6052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3"/>
          <p:cNvSpPr txBox="1"/>
          <p:nvPr/>
        </p:nvSpPr>
        <p:spPr>
          <a:xfrm>
            <a:off x="1676400" y="3519487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https://static.vecteezy.com/system/resources/previews/042/393/007/non_2x/dark-blue-green-gradient-flowing-dot-waving-particle-geometric-technology-abstract-banner-background-digital-futuristic-navy-blue-dotted-wave-concept-for-science-music-cover-website-header-vector.jpg</a:t>
            </a:r>
            <a:endParaRPr/>
          </a:p>
        </p:txBody>
      </p:sp>
      <p:sp>
        <p:nvSpPr>
          <p:cNvPr id="518" name="Google Shape;518;p43"/>
          <p:cNvSpPr txBox="1"/>
          <p:nvPr/>
        </p:nvSpPr>
        <p:spPr>
          <a:xfrm>
            <a:off x="1676400" y="3938587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519" name="Google Shape;519;p43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520" name="Google Shape;520;p43"/>
          <p:cNvSpPr/>
          <p:nvPr/>
        </p:nvSpPr>
        <p:spPr>
          <a:xfrm>
            <a:off x="581025" y="581025"/>
            <a:ext cx="57150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